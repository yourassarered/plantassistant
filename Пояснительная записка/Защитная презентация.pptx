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7" r:id="rId10"/>
    <p:sldId id="271" r:id="rId11"/>
    <p:sldId id="272" r:id="rId12"/>
    <p:sldId id="263" r:id="rId13"/>
    <p:sldId id="264" r:id="rId14"/>
    <p:sldId id="273" r:id="rId15"/>
    <p:sldId id="268" r:id="rId16"/>
    <p:sldId id="269" r:id="rId17"/>
  </p:sldIdLst>
  <p:sldSz cx="12192000" cy="6858000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Objects="1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 varScale="1"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ant Assistant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17526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ru-RU" sz="3200" b="1" dirty="0">
                <a:solidFill>
                  <a:schemeClr val="tx1"/>
                </a:solidFill>
              </a:rPr>
              <a:t>Разработка веб-приложения клуба любителей растений Plant Assistant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636352" y="3429000"/>
            <a:ext cx="4697648" cy="247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000" dirty="0">
                <a:solidFill>
                  <a:srgbClr val="23352B"/>
                </a:solidFill>
              </a:rPr>
              <a:t>Разрабатываемая система предназначена для учета комнатных растений, планирования ухода и хранения истории действий.</a:t>
            </a:r>
            <a:endParaRPr lang="ru-RU" sz="2000" dirty="0"/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1</a:t>
            </a:r>
            <a:endParaRPr lang="ru-RU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8FF2C5-7E27-48C2-B435-271E57491BCB}"/>
              </a:ext>
            </a:extLst>
          </p:cNvPr>
          <p:cNvSpPr txBox="1"/>
          <p:nvPr/>
        </p:nvSpPr>
        <p:spPr>
          <a:xfrm>
            <a:off x="8541400" y="5258669"/>
            <a:ext cx="280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Назаренко И.Д</a:t>
            </a:r>
          </a:p>
          <a:p>
            <a:pPr algn="r"/>
            <a:r>
              <a:rPr lang="ru-RU" dirty="0"/>
              <a:t>Гудкова А.Л.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600" b="1" dirty="0">
                <a:solidFill>
                  <a:srgbClr val="FFFFFF"/>
                </a:solidFill>
              </a:rPr>
              <a:t>Актуальность темы</a:t>
            </a:r>
            <a:endParaRPr lang="ru-RU" sz="2600" dirty="0"/>
          </a:p>
        </p:txBody>
      </p:sp>
      <p:sp>
        <p:nvSpPr>
          <p:cNvPr id="4" name="Content"/>
          <p:cNvSpPr txBox="1"/>
          <p:nvPr/>
        </p:nvSpPr>
        <p:spPr>
          <a:xfrm>
            <a:off x="600000" y="1180000"/>
            <a:ext cx="5343600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уход за комнатными растениями требует регулярного контроля;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информация о растениях часто хранится разрозненно;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пользователи пропускают полив, удобрение и другие процедуры;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отсутствует единый инструмент учета, планирования и визуализации;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требуется веб-система, которая объединяет все перечисленные процессы.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2</a:t>
            </a:r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5F90E4-9B01-41FE-9B31-D489073E9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92923"/>
            <a:ext cx="3402731" cy="4398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600" b="1" dirty="0">
                <a:solidFill>
                  <a:srgbClr val="FFFFFF"/>
                </a:solidFill>
              </a:rPr>
              <a:t>Цель и задачи проекта</a:t>
            </a:r>
            <a:endParaRPr lang="ru-RU" sz="2600" dirty="0"/>
          </a:p>
        </p:txBody>
      </p:sp>
      <p:sp>
        <p:nvSpPr>
          <p:cNvPr id="4" name="Content"/>
          <p:cNvSpPr txBox="1"/>
          <p:nvPr/>
        </p:nvSpPr>
        <p:spPr>
          <a:xfrm>
            <a:off x="600000" y="1180000"/>
            <a:ext cx="5267400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Цель:</a:t>
            </a:r>
            <a:endParaRPr lang="en-US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разработка веб-приложения для хранения, обработки и визуализации информации о растениях и мероприятиях по уходу;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rgbClr val="1A1C1F"/>
              </a:solidFill>
              <a:latin typeface="-apple-system"/>
            </a:endParaRPr>
          </a:p>
          <a:p>
            <a:pPr algn="l"/>
            <a:r>
              <a:rPr lang="ru-RU" dirty="0">
                <a:solidFill>
                  <a:srgbClr val="1A1C1F"/>
                </a:solidFill>
                <a:latin typeface="-apple-system"/>
              </a:rPr>
              <a:t>Задачи</a:t>
            </a:r>
            <a:r>
              <a:rPr lang="en-US" dirty="0">
                <a:solidFill>
                  <a:srgbClr val="1A1C1F"/>
                </a:solidFill>
                <a:latin typeface="-apple-system"/>
              </a:rPr>
              <a:t>:</a:t>
            </a:r>
            <a:endParaRPr lang="ru-RU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анализ предметной области и аналогов;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определение требований к системе;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проектирование архитектуры;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реализация 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backend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 и 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frontend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тестирование, оценка работоспособности и эксплуатационных характеристик.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3</a:t>
            </a:r>
            <a:endParaRPr lang="ru-RU" sz="1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6F7B031-3BC1-442C-AFAF-3AB3443DB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192700"/>
            <a:ext cx="4230800" cy="423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600" b="1" dirty="0">
                <a:solidFill>
                  <a:srgbClr val="FFFFFF"/>
                </a:solidFill>
              </a:rPr>
              <a:t>Функциональные возможности</a:t>
            </a:r>
            <a:endParaRPr lang="ru-RU" sz="2600" dirty="0"/>
          </a:p>
        </p:txBody>
      </p:sp>
      <p:sp>
        <p:nvSpPr>
          <p:cNvPr id="4" name="Content"/>
          <p:cNvSpPr txBox="1"/>
          <p:nvPr/>
        </p:nvSpPr>
        <p:spPr>
          <a:xfrm>
            <a:off x="600000" y="1180000"/>
            <a:ext cx="6258000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регистрация, авторизация и управление профилем;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добавление, редактирование и удаление растений;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группировка растений по комнатам;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настройка интервалов ухода и формирование задач;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журнал выполненных действий и календарь ухода;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публичная лента, лайки, советы, подписки и жалобы;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административная панель для модерации.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4</a:t>
            </a:r>
            <a:endParaRPr lang="ru-RU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600" b="1" dirty="0">
                <a:solidFill>
                  <a:srgbClr val="FFFFFF"/>
                </a:solidFill>
              </a:rPr>
              <a:t>Архитектура системы</a:t>
            </a:r>
            <a:endParaRPr lang="ru-RU" sz="2600" dirty="0"/>
          </a:p>
        </p:txBody>
      </p:sp>
      <p:sp>
        <p:nvSpPr>
          <p:cNvPr id="4" name="Content"/>
          <p:cNvSpPr txBox="1"/>
          <p:nvPr/>
        </p:nvSpPr>
        <p:spPr>
          <a:xfrm>
            <a:off x="574607" y="1252500"/>
            <a:ext cx="4987993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клиент-серверная архитектура;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frontend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 выполняется в браузере;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backend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 реализует REST API;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бизнес-логика и доступ к данным сосредоточены на сервере;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данные хранятся в 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PostgreSQL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изображения размещаются в файловом хранилище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5</a:t>
            </a:r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70E0FC0-665B-43C9-A452-CC08E0355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366" y="1633797"/>
            <a:ext cx="5896027" cy="3473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600" b="1" dirty="0">
                <a:solidFill>
                  <a:srgbClr val="FFFFFF"/>
                </a:solidFill>
              </a:rPr>
              <a:t>Технологии backend</a:t>
            </a:r>
            <a:endParaRPr lang="ru-RU" sz="2600" dirty="0"/>
          </a:p>
        </p:txBody>
      </p:sp>
      <p:sp>
        <p:nvSpPr>
          <p:cNvPr id="4" name="Content"/>
          <p:cNvSpPr txBox="1"/>
          <p:nvPr/>
        </p:nvSpPr>
        <p:spPr>
          <a:xfrm>
            <a:off x="600000" y="1180000"/>
            <a:ext cx="5877000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endParaRPr lang="ru-RU" sz="1800" dirty="0"/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6</a:t>
            </a:r>
            <a:endParaRPr lang="ru-RU" sz="1200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B1F4527-314D-4431-B2F0-F21659658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485305"/>
              </p:ext>
            </p:extLst>
          </p:nvPr>
        </p:nvGraphicFramePr>
        <p:xfrm>
          <a:off x="3538500" y="1389329"/>
          <a:ext cx="4990224" cy="4351341"/>
        </p:xfrm>
        <a:graphic>
          <a:graphicData uri="http://schemas.openxmlformats.org/drawingml/2006/table">
            <a:tbl>
              <a:tblPr/>
              <a:tblGrid>
                <a:gridCol w="2495112">
                  <a:extLst>
                    <a:ext uri="{9D8B030D-6E8A-4147-A177-3AD203B41FA5}">
                      <a16:colId xmlns:a16="http://schemas.microsoft.com/office/drawing/2014/main" val="2198643649"/>
                    </a:ext>
                  </a:extLst>
                </a:gridCol>
                <a:gridCol w="2495112">
                  <a:extLst>
                    <a:ext uri="{9D8B030D-6E8A-4147-A177-3AD203B41FA5}">
                      <a16:colId xmlns:a16="http://schemas.microsoft.com/office/drawing/2014/main" val="539299279"/>
                    </a:ext>
                  </a:extLst>
                </a:gridCol>
              </a:tblGrid>
              <a:tr h="317717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>
                          <a:solidFill>
                            <a:srgbClr val="1A1C1F"/>
                          </a:solidFill>
                          <a:effectLst/>
                        </a:rPr>
                        <a:t>Технология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b="1">
                          <a:solidFill>
                            <a:srgbClr val="1A1C1F"/>
                          </a:solidFill>
                          <a:effectLst/>
                        </a:rPr>
                        <a:t>Назначение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029008"/>
                  </a:ext>
                </a:extLst>
              </a:tr>
              <a:tr h="566365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PHP 8.3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основной язык серверной части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062918"/>
                  </a:ext>
                </a:extLst>
              </a:tr>
              <a:tr h="566365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Laravel 13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каркас backend и реализация REST API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650227"/>
                  </a:ext>
                </a:extLst>
              </a:tr>
              <a:tr h="566365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PostgreSQL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хранение данных приложения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10315"/>
                  </a:ext>
                </a:extLst>
              </a:tr>
              <a:tr h="566365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Eloquent ORM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работа с моделями и связями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218259"/>
                  </a:ext>
                </a:extLst>
              </a:tr>
              <a:tr h="317717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Laravel Sanctum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токен-</a:t>
                      </a:r>
                      <a:r>
                        <a:rPr lang="en-US" sz="1600">
                          <a:effectLst/>
                        </a:rPr>
                        <a:t>based </a:t>
                      </a:r>
                      <a:r>
                        <a:rPr lang="ru-RU" sz="1600">
                          <a:effectLst/>
                        </a:rPr>
                        <a:t>авторизация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465784"/>
                  </a:ext>
                </a:extLst>
              </a:tr>
              <a:tr h="317717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OpenAPI / Swagger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документирование </a:t>
                      </a:r>
                      <a:r>
                        <a:rPr lang="en-US" sz="1600">
                          <a:effectLst/>
                        </a:rPr>
                        <a:t>API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921306"/>
                  </a:ext>
                </a:extLst>
              </a:tr>
              <a:tr h="566365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PHPUnit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effectLst/>
                        </a:rPr>
                        <a:t>автоматизированное тестирование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14155"/>
                  </a:ext>
                </a:extLst>
              </a:tr>
              <a:tr h="566365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Laravel Pint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effectLst/>
                        </a:rPr>
                        <a:t>контроль единого стиля кода</a:t>
                      </a:r>
                    </a:p>
                  </a:txBody>
                  <a:tcPr marL="34534" marR="34534" marT="34534" marB="345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220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600" b="1" dirty="0">
                <a:solidFill>
                  <a:srgbClr val="FFFFFF"/>
                </a:solidFill>
              </a:rPr>
              <a:t>Почему Laravel и PostgreSQL</a:t>
            </a:r>
            <a:endParaRPr lang="ru-RU" sz="2600" dirty="0"/>
          </a:p>
        </p:txBody>
      </p:sp>
      <p:sp>
        <p:nvSpPr>
          <p:cNvPr id="4" name="Content"/>
          <p:cNvSpPr txBox="1"/>
          <p:nvPr/>
        </p:nvSpPr>
        <p:spPr>
          <a:xfrm>
            <a:off x="600000" y="1180000"/>
            <a:ext cx="5572200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800" dirty="0">
                <a:solidFill>
                  <a:srgbClr val="23352B"/>
                </a:solidFill>
              </a:rPr>
              <a:t>Laravel выбран как зрелая основа для REST API, поскольку сокращает объем инфраструктурного кода и упрощает сопровождение проекта.</a:t>
            </a:r>
            <a:endParaRPr lang="ru-RU" sz="1800" dirty="0"/>
          </a:p>
          <a:p>
            <a:r>
              <a:rPr lang="ru-RU" sz="1800" dirty="0">
                <a:solidFill>
                  <a:srgbClr val="23352B"/>
                </a:solidFill>
              </a:rPr>
              <a:t>В проекте активно используются middleware, policies, resources и request-классы, что повышает структурированность backend-части.</a:t>
            </a:r>
            <a:endParaRPr lang="ru-RU" sz="1800" dirty="0"/>
          </a:p>
          <a:p>
            <a:r>
              <a:rPr lang="ru-RU" sz="1800" dirty="0">
                <a:solidFill>
                  <a:srgbClr val="23352B"/>
                </a:solidFill>
              </a:rPr>
              <a:t>PostgreSQL хорошо подходит для связанной реляционной модели данных с внешними ключами, ограничениями уникальности и индексами.</a:t>
            </a:r>
            <a:endParaRPr lang="ru-RU" sz="1800" dirty="0"/>
          </a:p>
          <a:p>
            <a:r>
              <a:rPr lang="ru-RU" sz="1800" dirty="0">
                <a:solidFill>
                  <a:srgbClr val="23352B"/>
                </a:solidFill>
              </a:rPr>
              <a:t>Такой стек естественно соответствует задачам проекта, в котором растения, уход, социальные связи и жалобы тесно связаны между собой.</a:t>
            </a:r>
            <a:endParaRPr lang="ru-RU" sz="1800" dirty="0"/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7</a:t>
            </a:r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37198CC-6980-4794-A89F-DB5BB6FB5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199" y="1281100"/>
            <a:ext cx="4154898" cy="429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ru-RU" sz="2800" b="1" i="0" dirty="0">
                <a:solidFill>
                  <a:schemeClr val="bg1"/>
                </a:solidFill>
                <a:effectLst/>
                <a:latin typeface="-apple-system"/>
              </a:rPr>
              <a:t>Архитектура </a:t>
            </a:r>
            <a:r>
              <a:rPr lang="en-US" sz="2800" b="1" i="0" dirty="0">
                <a:solidFill>
                  <a:schemeClr val="bg1"/>
                </a:solidFill>
                <a:effectLst/>
                <a:latin typeface="-apple-system"/>
              </a:rPr>
              <a:t>Laravel</a:t>
            </a:r>
          </a:p>
        </p:txBody>
      </p:sp>
      <p:sp>
        <p:nvSpPr>
          <p:cNvPr id="4" name="Content"/>
          <p:cNvSpPr txBox="1"/>
          <p:nvPr/>
        </p:nvSpPr>
        <p:spPr>
          <a:xfrm>
            <a:off x="600000" y="1180000"/>
            <a:ext cx="5572200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endParaRPr lang="ru-RU" sz="1800" dirty="0"/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7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079770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600" b="1" dirty="0">
                <a:solidFill>
                  <a:srgbClr val="FFFFFF"/>
                </a:solidFill>
              </a:rPr>
              <a:t>Безопасность и контроль качества</a:t>
            </a:r>
            <a:endParaRPr lang="ru-RU" sz="2600" dirty="0"/>
          </a:p>
        </p:txBody>
      </p:sp>
      <p:sp>
        <p:nvSpPr>
          <p:cNvPr id="4" name="Content"/>
          <p:cNvSpPr txBox="1"/>
          <p:nvPr/>
        </p:nvSpPr>
        <p:spPr>
          <a:xfrm>
            <a:off x="600000" y="1180000"/>
            <a:ext cx="6410400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800" dirty="0">
                <a:solidFill>
                  <a:srgbClr val="23352B"/>
                </a:solidFill>
              </a:rPr>
              <a:t>Авторизация реализована через Laravel Sanctum и Bearer token.</a:t>
            </a:r>
            <a:endParaRPr lang="ru-RU" sz="1800" dirty="0"/>
          </a:p>
          <a:p>
            <a:r>
              <a:rPr lang="ru-RU" sz="1800" dirty="0">
                <a:solidFill>
                  <a:srgbClr val="23352B"/>
                </a:solidFill>
              </a:rPr>
              <a:t>Разграничение доступа выполняется по ролям, middleware и policies.</a:t>
            </a:r>
            <a:endParaRPr lang="ru-RU" sz="1800" dirty="0"/>
          </a:p>
          <a:p>
            <a:r>
              <a:rPr lang="ru-RU" sz="1800" dirty="0">
                <a:solidFill>
                  <a:srgbClr val="23352B"/>
                </a:solidFill>
              </a:rPr>
              <a:t>Валидация данных присутствует на backend и frontend, что уменьшает риск сохранения некорректной информации.</a:t>
            </a:r>
            <a:endParaRPr lang="ru-RU" sz="1800" dirty="0"/>
          </a:p>
          <a:p>
            <a:r>
              <a:rPr lang="ru-RU" sz="1800" dirty="0">
                <a:solidFill>
                  <a:srgbClr val="23352B"/>
                </a:solidFill>
              </a:rPr>
              <a:t>Качество API контролируется через OpenAPI-контракт и PHPUnit, а стиль кода - через </a:t>
            </a:r>
            <a:r>
              <a:rPr lang="ru-RU" sz="1800" dirty="0" err="1">
                <a:solidFill>
                  <a:srgbClr val="23352B"/>
                </a:solidFill>
              </a:rPr>
              <a:t>Laravel</a:t>
            </a:r>
            <a:r>
              <a:rPr lang="ru-RU" sz="1800" dirty="0">
                <a:solidFill>
                  <a:srgbClr val="23352B"/>
                </a:solidFill>
              </a:rPr>
              <a:t> </a:t>
            </a:r>
            <a:r>
              <a:rPr lang="ru-RU" sz="1800" dirty="0" err="1">
                <a:solidFill>
                  <a:srgbClr val="23352B"/>
                </a:solidFill>
              </a:rPr>
              <a:t>Pint</a:t>
            </a:r>
            <a:endParaRPr lang="ru-RU" sz="1800" dirty="0"/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12</a:t>
            </a:r>
            <a:endParaRPr lang="ru-RU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b="1" i="0" dirty="0">
                <a:solidFill>
                  <a:schemeClr val="bg1"/>
                </a:solidFill>
                <a:effectLst/>
                <a:latin typeface="-apple-system"/>
              </a:rPr>
              <a:t>Docker </a:t>
            </a:r>
            <a:r>
              <a:rPr lang="ru-RU" sz="2800" b="1" i="0" dirty="0">
                <a:solidFill>
                  <a:schemeClr val="bg1"/>
                </a:solidFill>
                <a:effectLst/>
                <a:latin typeface="-apple-system"/>
              </a:rPr>
              <a:t>и </a:t>
            </a:r>
            <a:r>
              <a:rPr lang="en-US" sz="2800" b="1" i="0" dirty="0" err="1">
                <a:solidFill>
                  <a:schemeClr val="bg1"/>
                </a:solidFill>
                <a:effectLst/>
                <a:latin typeface="-apple-system"/>
              </a:rPr>
              <a:t>RoadRunner</a:t>
            </a:r>
            <a:endParaRPr lang="en-US" sz="2800" b="1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600000" y="1180000"/>
            <a:ext cx="5572200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Docker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 используется для воспроизводимого развертывания;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контейнеризация уменьшает зависимость от локального окружения;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RoadRunner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 - высокопроизводительный 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application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server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 для PHP;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Laravel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 в связке с 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RoadRunner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 работает через долгоживущие 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worker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-процессы;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уменьшаются затраты на повторную инициализацию приложения;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особенно заметен эффект на часто вызываемых API-маршрутах.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7</a:t>
            </a:r>
            <a:endParaRPr lang="ru-RU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DF31C-0025-49D7-8445-DE2B78ED1E68}"/>
              </a:ext>
            </a:extLst>
          </p:cNvPr>
          <p:cNvSpPr txBox="1"/>
          <p:nvPr/>
        </p:nvSpPr>
        <p:spPr>
          <a:xfrm>
            <a:off x="7315200" y="2590800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Картинка где наглядно сравнивается скорость работы</a:t>
            </a:r>
          </a:p>
        </p:txBody>
      </p:sp>
    </p:spTree>
    <p:extLst>
      <p:ext uri="{BB962C8B-B14F-4D97-AF65-F5344CB8AC3E}">
        <p14:creationId xmlns:p14="http://schemas.microsoft.com/office/powerpoint/2010/main" val="4286770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b="1" i="0" dirty="0">
                <a:solidFill>
                  <a:schemeClr val="bg1"/>
                </a:solidFill>
                <a:effectLst/>
                <a:latin typeface="-apple-system"/>
              </a:rPr>
              <a:t>ER-</a:t>
            </a:r>
            <a:r>
              <a:rPr lang="ru-RU" sz="2800" b="1" i="0" dirty="0">
                <a:solidFill>
                  <a:schemeClr val="bg1"/>
                </a:solidFill>
                <a:effectLst/>
                <a:latin typeface="-apple-system"/>
              </a:rPr>
              <a:t>диаграмма базы данных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7</a:t>
            </a:r>
            <a:endParaRPr lang="ru-RU" sz="1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D0E728-48AE-4146-AC3F-005E48F47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66800"/>
            <a:ext cx="7083823" cy="567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263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600" b="1" dirty="0">
                <a:solidFill>
                  <a:srgbClr val="FFFFFF"/>
                </a:solidFill>
              </a:rPr>
              <a:t>Технологии frontend</a:t>
            </a:r>
            <a:endParaRPr lang="ru-RU" sz="2600" dirty="0"/>
          </a:p>
        </p:txBody>
      </p:sp>
      <p:sp>
        <p:nvSpPr>
          <p:cNvPr id="4" name="Content"/>
          <p:cNvSpPr txBox="1"/>
          <p:nvPr/>
        </p:nvSpPr>
        <p:spPr>
          <a:xfrm>
            <a:off x="600001" y="1180000"/>
            <a:ext cx="5343599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Vue.js 3 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как основа 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SPA-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интерфейса;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1A1C1F"/>
                </a:solidFill>
                <a:effectLst/>
                <a:latin typeface="-apple-system"/>
              </a:rPr>
              <a:t>Vite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 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для разработки и 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production-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сборки;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Vue Router 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для маршрутизации;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1A1C1F"/>
                </a:solidFill>
                <a:effectLst/>
                <a:latin typeface="-apple-system"/>
              </a:rPr>
              <a:t>Pinia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 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для централизованного состояния;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1A1C1F"/>
                </a:solidFill>
                <a:effectLst/>
                <a:latin typeface="-apple-system"/>
              </a:rPr>
              <a:t>VeeValidate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 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и 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Zod 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для форм и валидации;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Chart.js, </a:t>
            </a:r>
            <a:r>
              <a:rPr lang="en-US" sz="2400" b="0" i="0" dirty="0" err="1">
                <a:solidFill>
                  <a:srgbClr val="1A1C1F"/>
                </a:solidFill>
                <a:effectLst/>
                <a:latin typeface="-apple-system"/>
              </a:rPr>
              <a:t>vue-chartjs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, </a:t>
            </a:r>
            <a:r>
              <a:rPr lang="en-US" sz="2400" b="0" i="0" dirty="0" err="1">
                <a:solidFill>
                  <a:srgbClr val="1A1C1F"/>
                </a:solidFill>
                <a:effectLst/>
                <a:latin typeface="-apple-system"/>
              </a:rPr>
              <a:t>lucide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-</a:t>
            </a:r>
            <a:r>
              <a:rPr lang="en-US" sz="2400" b="0" i="0" dirty="0" err="1">
                <a:solidFill>
                  <a:srgbClr val="1A1C1F"/>
                </a:solidFill>
                <a:effectLst/>
                <a:latin typeface="-apple-system"/>
              </a:rPr>
              <a:t>vue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-next, </a:t>
            </a:r>
            <a:r>
              <a:rPr lang="en-US" sz="2400" b="0" i="0" dirty="0" err="1">
                <a:solidFill>
                  <a:srgbClr val="1A1C1F"/>
                </a:solidFill>
                <a:effectLst/>
                <a:latin typeface="-apple-system"/>
              </a:rPr>
              <a:t>vue-sonner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 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для 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UI 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и визуализации.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8</a:t>
            </a:r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87D2FB-E749-4A92-9E5B-639E2A6A2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176" y="1676400"/>
            <a:ext cx="6469777" cy="27002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600" b="1" dirty="0">
                <a:solidFill>
                  <a:srgbClr val="FFFFFF"/>
                </a:solidFill>
              </a:rPr>
              <a:t>Организация frontend-логики</a:t>
            </a:r>
            <a:endParaRPr lang="ru-RU" sz="2600" dirty="0"/>
          </a:p>
        </p:txBody>
      </p:sp>
      <p:sp>
        <p:nvSpPr>
          <p:cNvPr id="4" name="Content"/>
          <p:cNvSpPr txBox="1"/>
          <p:nvPr/>
        </p:nvSpPr>
        <p:spPr>
          <a:xfrm>
            <a:off x="600000" y="1180000"/>
            <a:ext cx="6029400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единый 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API-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клиент для запросов к 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backend;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отдельные 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store 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для 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ui-monospace"/>
              </a:rPr>
              <a:t>auth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, 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ui-monospace"/>
              </a:rPr>
              <a:t>plants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, 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ui-monospace"/>
              </a:rPr>
              <a:t>tasks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, 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ui-monospace"/>
              </a:rPr>
              <a:t>social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, 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ui-monospace"/>
              </a:rPr>
              <a:t>admin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разделение страниц, виджетов, сущностей и 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shared-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логики;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адаптивный интерфейс для</a:t>
            </a:r>
            <a:r>
              <a:rPr lang="en-US" sz="2400" b="0" i="0" dirty="0">
                <a:solidFill>
                  <a:srgbClr val="1A1C1F"/>
                </a:solidFill>
                <a:effectLst/>
                <a:latin typeface="-apple-system"/>
              </a:rPr>
              <a:t> </a:t>
            </a: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компьютеров и мобильных устройств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A1C1F"/>
                </a:solidFill>
                <a:effectLst/>
                <a:latin typeface="-apple-system"/>
              </a:rPr>
              <a:t>централизованная обработка ошибок и токенов.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9</a:t>
            </a:r>
            <a:endParaRPr lang="ru-RU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2A0233-3E98-470C-AA9A-E313EC8AD1F9}"/>
              </a:ext>
            </a:extLst>
          </p:cNvPr>
          <p:cNvSpPr txBox="1"/>
          <p:nvPr/>
        </p:nvSpPr>
        <p:spPr>
          <a:xfrm>
            <a:off x="2438400" y="137160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Слайды с функциональностью</a:t>
            </a:r>
          </a:p>
        </p:txBody>
      </p:sp>
    </p:spTree>
    <p:extLst>
      <p:ext uri="{BB962C8B-B14F-4D97-AF65-F5344CB8AC3E}">
        <p14:creationId xmlns:p14="http://schemas.microsoft.com/office/powerpoint/2010/main" val="522045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600" b="1" dirty="0">
                <a:solidFill>
                  <a:srgbClr val="FFFFFF"/>
                </a:solidFill>
              </a:rPr>
              <a:t>Результаты работы</a:t>
            </a:r>
            <a:endParaRPr lang="ru-RU" sz="2600" dirty="0"/>
          </a:p>
        </p:txBody>
      </p:sp>
      <p:sp>
        <p:nvSpPr>
          <p:cNvPr id="4" name="Content"/>
          <p:cNvSpPr txBox="1"/>
          <p:nvPr/>
        </p:nvSpPr>
        <p:spPr>
          <a:xfrm>
            <a:off x="600000" y="1180000"/>
            <a:ext cx="10800000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800" dirty="0">
                <a:solidFill>
                  <a:srgbClr val="23352B"/>
                </a:solidFill>
              </a:rPr>
              <a:t>В результате создано полноценное веб-приложение для учета растений, планирования ухода и хранения истории действий.</a:t>
            </a:r>
            <a:endParaRPr lang="ru-RU" sz="1800" dirty="0"/>
          </a:p>
          <a:p>
            <a:r>
              <a:rPr lang="ru-RU" sz="1800" dirty="0">
                <a:solidFill>
                  <a:srgbClr val="23352B"/>
                </a:solidFill>
              </a:rPr>
              <a:t>Разработаны REST API и SPA-интерфейс, поддерживающие личные, публичные и административные сценарии.</a:t>
            </a:r>
            <a:endParaRPr lang="ru-RU" sz="1800" dirty="0"/>
          </a:p>
          <a:p>
            <a:r>
              <a:rPr lang="ru-RU" sz="1800" dirty="0">
                <a:solidFill>
                  <a:srgbClr val="23352B"/>
                </a:solidFill>
              </a:rPr>
              <a:t>Система уже включает ленту, карточки растений, задачи, календарь, профиль, советы, лайки, подписки и жалобы.</a:t>
            </a:r>
            <a:endParaRPr lang="ru-RU" sz="1800" dirty="0"/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13</a:t>
            </a:r>
            <a:endParaRPr lang="ru-RU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930000"/>
          </a:xfrm>
          <a:prstGeom prst="rect">
            <a:avLst/>
          </a:prstGeom>
          <a:solidFill>
            <a:srgbClr val="2F7D4E"/>
          </a:solidFill>
          <a:ln>
            <a:solidFill>
              <a:srgbClr val="2F7D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FooterLine"/>
          <p:cNvSpPr/>
          <p:nvPr/>
        </p:nvSpPr>
        <p:spPr>
          <a:xfrm>
            <a:off x="600000" y="6040000"/>
            <a:ext cx="10800000" cy="25000"/>
          </a:xfrm>
          <a:prstGeom prst="rect">
            <a:avLst/>
          </a:prstGeom>
          <a:solidFill>
            <a:srgbClr val="C8D7CA"/>
          </a:solidFill>
          <a:ln>
            <a:solidFill>
              <a:srgbClr val="C8D7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20000" y="200000"/>
            <a:ext cx="10200000" cy="5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2600" b="1" dirty="0">
                <a:solidFill>
                  <a:srgbClr val="FFFFFF"/>
                </a:solidFill>
              </a:rPr>
              <a:t>Выводы и перспективы</a:t>
            </a:r>
            <a:endParaRPr lang="ru-RU" sz="2600" dirty="0"/>
          </a:p>
        </p:txBody>
      </p:sp>
      <p:sp>
        <p:nvSpPr>
          <p:cNvPr id="4" name="Content"/>
          <p:cNvSpPr txBox="1"/>
          <p:nvPr/>
        </p:nvSpPr>
        <p:spPr>
          <a:xfrm>
            <a:off x="600000" y="1180000"/>
            <a:ext cx="5648400" cy="4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цель работы достигнута;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поставленные задачи выполнены;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выбранный стек технологий оправдан;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система объединяет учет, планирование и социальные функции;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перспективы: уведомления, расширенная аналитика, отчеты, экспорт данных, развитие 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-apple-system"/>
              </a:rPr>
              <a:t>production</a:t>
            </a:r>
            <a:r>
              <a:rPr lang="ru-RU" b="0" i="0" dirty="0">
                <a:solidFill>
                  <a:srgbClr val="1A1C1F"/>
                </a:solidFill>
                <a:effectLst/>
                <a:latin typeface="-apple-system"/>
              </a:rPr>
              <a:t>-инфраструктуры.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100000" y="6200000"/>
            <a:ext cx="500000" cy="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ru-RU" sz="1200" b="1" dirty="0">
                <a:solidFill>
                  <a:srgbClr val="6C7A70"/>
                </a:solidFill>
              </a:rPr>
              <a:t>14</a:t>
            </a:r>
            <a:endParaRPr lang="ru-RU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660</Words>
  <Application>Microsoft Office PowerPoint</Application>
  <PresentationFormat>Широкоэкранный</PresentationFormat>
  <Paragraphs>113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-apple-system</vt:lpstr>
      <vt:lpstr>Arial</vt:lpstr>
      <vt:lpstr>ui-monospace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Защитная презентация Plant Assistant</dc:title>
  <dc:creator>Codex</dc:creator>
  <cp:lastModifiedBy>Иван Назаренко</cp:lastModifiedBy>
  <cp:revision>12</cp:revision>
  <dcterms:created xsi:type="dcterms:W3CDTF">2026-05-28T03:15:02Z</dcterms:created>
  <dcterms:modified xsi:type="dcterms:W3CDTF">2026-05-29T08:27:00Z</dcterms:modified>
</cp:coreProperties>
</file>